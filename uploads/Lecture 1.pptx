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</p:embeddedFont>
    <p:embeddedFont>
      <p:font typeface="Dynapuff SemiCondensed" panose="020B0604020202020204" charset="0"/>
      <p:regular r:id="rId15"/>
    </p:embeddedFont>
    <p:embeddedFont>
      <p:font typeface="Dynapuff Condensed" panose="020B0604020202020204" charset="0"/>
      <p:regular r:id="rId16"/>
    </p:embeddedFont>
    <p:embeddedFont>
      <p:font typeface="Dynapuff Condensed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9B47B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4" autoAdjust="0"/>
    <p:restoredTop sz="94622" autoAdjust="0"/>
  </p:normalViewPr>
  <p:slideViewPr>
    <p:cSldViewPr>
      <p:cViewPr varScale="1">
        <p:scale>
          <a:sx n="55" d="100"/>
          <a:sy n="55" d="100"/>
        </p:scale>
        <p:origin x="41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9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013428" y="7008107"/>
            <a:ext cx="8261144" cy="66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2"/>
              </a:lnSpc>
              <a:spcBef>
                <a:spcPct val="0"/>
              </a:spcBef>
            </a:pPr>
            <a:r>
              <a:rPr lang="en-US" sz="4400" spc="109" dirty="0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Presented by: </a:t>
            </a:r>
            <a:r>
              <a:rPr lang="en-US" sz="4400" spc="109" dirty="0" smtClean="0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DR.ASMAA MOHAMED</a:t>
            </a:r>
            <a:endParaRPr lang="en-US" sz="4400" spc="109" dirty="0">
              <a:solidFill>
                <a:srgbClr val="3F3E3A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30206" y="2305666"/>
            <a:ext cx="11227589" cy="295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9600" spc="500" dirty="0" smtClean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System Analysis and Design</a:t>
            </a:r>
            <a:endParaRPr lang="en-US" sz="9600" spc="500" dirty="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9" name="Freeform 9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4418111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4"/>
          <p:cNvSpPr txBox="1"/>
          <p:nvPr/>
        </p:nvSpPr>
        <p:spPr>
          <a:xfrm>
            <a:off x="5181600" y="5563799"/>
            <a:ext cx="8261144" cy="70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2"/>
              </a:lnSpc>
              <a:spcBef>
                <a:spcPct val="0"/>
              </a:spcBef>
            </a:pPr>
            <a:r>
              <a:rPr lang="en-US" sz="6000" spc="109" dirty="0" smtClean="0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Lecture 1</a:t>
            </a:r>
            <a:endParaRPr lang="en-US" sz="6000" spc="109" dirty="0">
              <a:solidFill>
                <a:srgbClr val="3F3E3A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685800" y="1181100"/>
            <a:ext cx="4876800" cy="1102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526"/>
              </a:lnSpc>
            </a:pPr>
            <a:r>
              <a:rPr lang="en-US" sz="7681" dirty="0" smtClean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Grades</a:t>
            </a:r>
            <a:endParaRPr lang="en-US" sz="7681" dirty="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3" name="Content Placeholder 3">
            <a:extLst>
              <a:ext uri="{FF2B5EF4-FFF2-40B4-BE49-F238E27FC236}">
                <a16:creationId xmlns:a16="http://schemas.microsoft.com/office/drawing/2014/main" id="{87832105-2670-B691-7414-438F32D534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7691586"/>
              </p:ext>
            </p:extLst>
          </p:nvPr>
        </p:nvGraphicFramePr>
        <p:xfrm>
          <a:off x="2139462" y="2705100"/>
          <a:ext cx="13411200" cy="6324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20632">
                  <a:extLst>
                    <a:ext uri="{9D8B030D-6E8A-4147-A177-3AD203B41FA5}">
                      <a16:colId xmlns:a16="http://schemas.microsoft.com/office/drawing/2014/main" val="1512176890"/>
                    </a:ext>
                  </a:extLst>
                </a:gridCol>
                <a:gridCol w="2248072">
                  <a:extLst>
                    <a:ext uri="{9D8B030D-6E8A-4147-A177-3AD203B41FA5}">
                      <a16:colId xmlns:a16="http://schemas.microsoft.com/office/drawing/2014/main" val="3570480533"/>
                    </a:ext>
                  </a:extLst>
                </a:gridCol>
                <a:gridCol w="8742496">
                  <a:extLst>
                    <a:ext uri="{9D8B030D-6E8A-4147-A177-3AD203B41FA5}">
                      <a16:colId xmlns:a16="http://schemas.microsoft.com/office/drawing/2014/main" val="3867190237"/>
                    </a:ext>
                  </a:extLst>
                </a:gridCol>
              </a:tblGrid>
              <a:tr h="126572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Assessment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Grade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Description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519974"/>
                  </a:ext>
                </a:extLst>
              </a:tr>
              <a:tr h="67885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Final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---------------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231268"/>
                  </a:ext>
                </a:extLst>
              </a:tr>
              <a:tr h="67885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Midterm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---------------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158524"/>
                  </a:ext>
                </a:extLst>
              </a:tr>
              <a:tr h="67885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Quizzes 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20</a:t>
                      </a:r>
                      <a:endParaRPr lang="en-US" sz="28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Two </a:t>
                      </a:r>
                      <a:r>
                        <a:rPr lang="en-US" sz="2800" dirty="0"/>
                        <a:t>Quizzes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941056"/>
                  </a:ext>
                </a:extLst>
              </a:tr>
              <a:tr h="117172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Assignments</a:t>
                      </a:r>
                      <a:endParaRPr lang="en-US" sz="28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Assignments uploaded in Moodle with discussion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5354"/>
                  </a:ext>
                </a:extLst>
              </a:tr>
              <a:tr h="117172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Project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10</a:t>
                      </a:r>
                      <a:endParaRPr lang="en-US" sz="28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Final project with discussion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000201"/>
                  </a:ext>
                </a:extLst>
              </a:tr>
              <a:tr h="678856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Total = 100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62588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95042" y="1055325"/>
            <a:ext cx="14111580" cy="8188564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71800" y="2790180"/>
            <a:ext cx="11092077" cy="439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just">
              <a:lnSpc>
                <a:spcPts val="4899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course provides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Fundamentals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of software system analysis and information system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development.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Dynapuff Condensed"/>
            </a:endParaRPr>
          </a:p>
          <a:p>
            <a:pPr marL="571500" indent="-571500" algn="just">
              <a:lnSpc>
                <a:spcPts val="4899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Software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project selection and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management.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Dynapuff Condensed"/>
            </a:endParaRPr>
          </a:p>
          <a:p>
            <a:pPr marL="571500" indent="-571500" algn="just">
              <a:lnSpc>
                <a:spcPts val="4899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Software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requirements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determination.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Dynapuff Condensed"/>
            </a:endParaRPr>
          </a:p>
          <a:p>
            <a:pPr marL="571500" indent="-571500" algn="just">
              <a:lnSpc>
                <a:spcPts val="4899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Process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modeling and use case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analysis.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Dynapuff Condensed"/>
            </a:endParaRPr>
          </a:p>
          <a:p>
            <a:pPr marL="571500" indent="-571500" algn="just">
              <a:lnSpc>
                <a:spcPts val="4899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Data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modeling and architecture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design.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Dynapuff Condensed"/>
            </a:endParaRPr>
          </a:p>
          <a:p>
            <a:pPr marL="571500" indent="-571500" algn="just">
              <a:lnSpc>
                <a:spcPts val="4899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User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interface design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Dynapuff Condensed"/>
              </a:rPr>
              <a:t>techniques.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Dynapuff Condense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723" y="1049456"/>
            <a:ext cx="10974844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Overall Course Objectives</a:t>
            </a:r>
            <a:endParaRPr lang="en-US" sz="6346" spc="63" dirty="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75679">
            <a:off x="700134" y="2009436"/>
            <a:ext cx="6516917" cy="6218334"/>
          </a:xfrm>
          <a:custGeom>
            <a:avLst/>
            <a:gdLst/>
            <a:ahLst/>
            <a:cxnLst/>
            <a:rect l="l" t="t" r="r" b="b"/>
            <a:pathLst>
              <a:path w="6516917" h="6218334">
                <a:moveTo>
                  <a:pt x="0" y="0"/>
                </a:moveTo>
                <a:lnTo>
                  <a:pt x="6516917" y="0"/>
                </a:lnTo>
                <a:lnTo>
                  <a:pt x="6516917" y="6218334"/>
                </a:lnTo>
                <a:lnTo>
                  <a:pt x="0" y="6218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175679">
            <a:off x="9998000" y="3039966"/>
            <a:ext cx="6516917" cy="6218334"/>
          </a:xfrm>
          <a:custGeom>
            <a:avLst/>
            <a:gdLst/>
            <a:ahLst/>
            <a:cxnLst/>
            <a:rect l="l" t="t" r="r" b="b"/>
            <a:pathLst>
              <a:path w="6516917" h="6218334">
                <a:moveTo>
                  <a:pt x="0" y="0"/>
                </a:moveTo>
                <a:lnTo>
                  <a:pt x="6516918" y="0"/>
                </a:lnTo>
                <a:lnTo>
                  <a:pt x="6516918" y="6218334"/>
                </a:lnTo>
                <a:lnTo>
                  <a:pt x="0" y="6218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457200" y="1096723"/>
            <a:ext cx="10399079" cy="86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694"/>
              </a:lnSpc>
              <a:spcBef>
                <a:spcPct val="0"/>
              </a:spcBef>
            </a:pPr>
            <a:r>
              <a:rPr lang="en-US" sz="7438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Introduction</a:t>
            </a:r>
            <a:endParaRPr lang="en-US" sz="7438" u="none" strike="noStrike" dirty="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80266" y="3353429"/>
            <a:ext cx="8163733" cy="233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/>
              <a:t>An </a:t>
            </a:r>
            <a:r>
              <a:rPr lang="en-US" sz="3200" b="1" dirty="0"/>
              <a:t>information system (IS)</a:t>
            </a:r>
            <a:r>
              <a:rPr lang="en-US" sz="3200" dirty="0"/>
              <a:t> is a coordinated set of components that </a:t>
            </a:r>
            <a:r>
              <a:rPr lang="en-US" sz="3200" b="1" dirty="0"/>
              <a:t>collects, processes, stores, and distributes data</a:t>
            </a:r>
            <a:r>
              <a:rPr lang="en-US" sz="3200" dirty="0"/>
              <a:t> to support decision-making, coordination, and control within an organization.</a:t>
            </a:r>
          </a:p>
          <a:p>
            <a:endParaRPr lang="en-US" sz="2400" dirty="0"/>
          </a:p>
        </p:txBody>
      </p:sp>
      <p:sp>
        <p:nvSpPr>
          <p:cNvPr id="6" name="TextBox 6"/>
          <p:cNvSpPr txBox="1"/>
          <p:nvPr/>
        </p:nvSpPr>
        <p:spPr>
          <a:xfrm>
            <a:off x="10124680" y="4276759"/>
            <a:ext cx="6015574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 smtClean="0"/>
              <a:t>Examples:</a:t>
            </a:r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70C0"/>
                </a:solidFill>
              </a:rPr>
              <a:t>Banking systems for managing accounts and </a:t>
            </a:r>
            <a:r>
              <a:rPr lang="en-US" sz="3200" b="1" dirty="0" smtClean="0">
                <a:solidFill>
                  <a:srgbClr val="0070C0"/>
                </a:solidFill>
              </a:rPr>
              <a:t>transactions.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70C0"/>
                </a:solidFill>
              </a:rPr>
              <a:t>Hospital </a:t>
            </a:r>
            <a:r>
              <a:rPr lang="en-US" sz="3200" b="1" dirty="0">
                <a:solidFill>
                  <a:srgbClr val="0070C0"/>
                </a:solidFill>
              </a:rPr>
              <a:t>systems for patient records and </a:t>
            </a:r>
            <a:r>
              <a:rPr lang="en-US" sz="3200" b="1" dirty="0" smtClean="0">
                <a:solidFill>
                  <a:srgbClr val="0070C0"/>
                </a:solidFill>
              </a:rPr>
              <a:t>scheduling.</a:t>
            </a:r>
            <a:endParaRPr lang="en-US" sz="3200" b="1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70C0"/>
                </a:solidFill>
              </a:rPr>
              <a:t>Inventory management systems in </a:t>
            </a:r>
            <a:r>
              <a:rPr lang="en-US" sz="3200" b="1" dirty="0" smtClean="0">
                <a:solidFill>
                  <a:srgbClr val="0070C0"/>
                </a:solidFill>
              </a:rPr>
              <a:t>companies.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0" y="611944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0272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61724" y="307491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8671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5201282" y="3522554"/>
            <a:ext cx="376044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9860278" y="3524882"/>
            <a:ext cx="3226440" cy="16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4889973" y="1331114"/>
            <a:ext cx="8449438" cy="1805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7437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System Analysis and System Design </a:t>
            </a:r>
            <a:endParaRPr lang="en-US" sz="4800" b="1" u="none" dirty="0">
              <a:solidFill>
                <a:srgbClr val="000000"/>
              </a:solidFill>
              <a:latin typeface="Dynapuff Condensed Bold"/>
              <a:ea typeface="Dynapuff Condensed Bold"/>
              <a:cs typeface="Dynapuff Condensed Bold"/>
              <a:sym typeface="Dynapuff Condense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72014" y="4236665"/>
            <a:ext cx="12015522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 Analysis and System Design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two stages of the software development life cycle. </a:t>
            </a:r>
          </a:p>
          <a:p>
            <a:pPr marL="457200" indent="176213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 is a process of 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collecting and analyzing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requirements of the system.</a:t>
            </a:r>
          </a:p>
          <a:p>
            <a:pPr marL="457200" indent="176213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is a process of 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design for the system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meet the requirements.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reeform 14"/>
          <p:cNvSpPr/>
          <p:nvPr/>
        </p:nvSpPr>
        <p:spPr>
          <a:xfrm flipV="1">
            <a:off x="-250222" y="-10386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6194" y="760583"/>
            <a:ext cx="10134006" cy="1913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7800"/>
              </a:lnSpc>
            </a:pPr>
            <a:r>
              <a:rPr lang="en-US" sz="5400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The systems development life cycle (SDLC)</a:t>
            </a:r>
            <a:endParaRPr lang="en-US" sz="5400" dirty="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444" y="2761131"/>
            <a:ext cx="4436386" cy="4436386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477000" y="3378338"/>
            <a:ext cx="9264842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systems development life cycle 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(SDLC)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is the process of determining how an information system (IS) can support business needs, designing the system, building it, and delivering it to users.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830" y="5524501"/>
            <a:ext cx="936637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52600" y="2690038"/>
            <a:ext cx="11277600" cy="4675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composed of four fundamental phases:</a:t>
            </a:r>
          </a:p>
          <a:p>
            <a:pPr lvl="1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  <a:p>
            <a:pPr lvl="1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lvl="1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pPr lvl="1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>
              <a:lnSpc>
                <a:spcPct val="120000"/>
              </a:lnSpc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 phases is composed of steps, which rely on techniques that produce 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itchFamily="18" charset="0"/>
              </a:rPr>
              <a:t>deliverables</a:t>
            </a:r>
            <a:r>
              <a:rPr lang="en-US" sz="3200" dirty="0">
                <a:latin typeface="Times New Roman" panose="02020603050405020304" pitchFamily="18" charset="0"/>
                <a:cs typeface="Times New Roman" pitchFamily="18" charset="0"/>
              </a:rPr>
              <a:t> (specific documents that explain various elements of the system).</a:t>
            </a:r>
            <a:endParaRPr lang="en-US" sz="32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074984" y="495300"/>
            <a:ext cx="10498015" cy="1913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7800"/>
              </a:lnSpc>
            </a:pPr>
            <a:r>
              <a:rPr lang="en-US" sz="5400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The systems development life cycle (SDLC)</a:t>
            </a:r>
            <a:endParaRPr lang="en-US" sz="5400" dirty="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7" name="Content Placeholder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7086600" y="7025481"/>
            <a:ext cx="9829800" cy="307101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88210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48966" y="1987493"/>
            <a:ext cx="8868618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305"/>
              </a:lnSpc>
              <a:spcBef>
                <a:spcPct val="0"/>
              </a:spcBef>
            </a:pPr>
            <a:r>
              <a:rPr lang="en-US" sz="6500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Systems Analyst</a:t>
            </a:r>
            <a:endParaRPr lang="en-US" sz="6500" u="none" dirty="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79954" y="3008133"/>
            <a:ext cx="12155245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key person in the SDLC is the 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systems analyst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who analyzes the business situation, identifies the opportunities for improvements, and designs an IS to implement the improvements.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86517D2-1E84-2AAF-6BEE-2ADD997A03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88"/>
          <a:stretch/>
        </p:blipFill>
        <p:spPr bwMode="auto">
          <a:xfrm>
            <a:off x="6095999" y="4698188"/>
            <a:ext cx="8839199" cy="4999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24819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82948" y="3167406"/>
            <a:ext cx="12079411" cy="4398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Systems analyst is a key role in information system (IS) development projects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.</a:t>
            </a:r>
          </a:p>
          <a:p>
            <a:pPr marL="457200" indent="-457200" algn="just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Systems analyst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works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closely with the project team to ensure the system is developed effectively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.</a:t>
            </a:r>
          </a:p>
          <a:p>
            <a:pPr marL="457200" indent="-457200" algn="just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Systems analyst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applies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technology to solve business problems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.</a:t>
            </a:r>
          </a:p>
          <a:p>
            <a:pPr marL="457200" indent="-457200" algn="just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Systems analyst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acts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as a change agent: identifies needed improvements, designs systems for change, and trains/motivates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users.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  <a:sym typeface="Dynapuff SemiCondense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882948" y="1554511"/>
            <a:ext cx="7350343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7800"/>
              </a:lnSpc>
              <a:spcBef>
                <a:spcPct val="0"/>
              </a:spcBef>
            </a:pPr>
            <a:r>
              <a:rPr lang="en-US" sz="6500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Systems </a:t>
            </a:r>
            <a:r>
              <a:rPr lang="en-US" sz="6500" dirty="0" smtClean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Analyst</a:t>
            </a:r>
            <a:endParaRPr lang="en-US" sz="6500" dirty="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5" name="Freeform 5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24819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95025" y="2620582"/>
            <a:ext cx="11893821" cy="6283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Technical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 – Must understand the technical environment, technical foundation, and technical solution.</a:t>
            </a:r>
          </a:p>
          <a:p>
            <a:pPr marL="457200" indent="-457200" algn="just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Business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 – Must understand how IT can be applied to business situations.</a:t>
            </a:r>
          </a:p>
          <a:p>
            <a:pPr marL="457200" indent="-457200" algn="just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Analytical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– Must be problem solvers.</a:t>
            </a:r>
          </a:p>
          <a:p>
            <a:pPr marL="457200" indent="-457200" algn="just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Interpersonal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– Need to communicate effectively.</a:t>
            </a:r>
          </a:p>
          <a:p>
            <a:pPr marL="457200" indent="-457200" algn="just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Management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– Need to manage people and to manage pressure and risks. </a:t>
            </a:r>
          </a:p>
          <a:p>
            <a:pPr marL="457200" indent="-457200" algn="just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Ethical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Dynapuff SemiCondensed"/>
              </a:rPr>
              <a:t> - Must deal fairly, honestly, and ethically with other project members, managers, and systems users.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  <a:sym typeface="Dynapuff SemiCondense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617607" y="1452951"/>
            <a:ext cx="7350343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7800"/>
              </a:lnSpc>
              <a:spcBef>
                <a:spcPct val="0"/>
              </a:spcBef>
            </a:pPr>
            <a:r>
              <a:rPr lang="en-US" sz="6500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Systems Analyst Skills</a:t>
            </a:r>
          </a:p>
        </p:txBody>
      </p:sp>
      <p:sp>
        <p:nvSpPr>
          <p:cNvPr id="6" name="Freeform 6"/>
          <p:cNvSpPr/>
          <p:nvPr/>
        </p:nvSpPr>
        <p:spPr>
          <a:xfrm>
            <a:off x="14630400" y="-6141"/>
            <a:ext cx="3686908" cy="2254041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991489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73816" y="3975664"/>
            <a:ext cx="8688208" cy="36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3"/>
              </a:lnSpc>
            </a:pPr>
            <a:r>
              <a:rPr lang="en-US" sz="16716" spc="501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173200" y="628709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469</Words>
  <Application>Microsoft Office PowerPoint</Application>
  <PresentationFormat>Custom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Wingdings</vt:lpstr>
      <vt:lpstr>Dynapuff SemiCondensed</vt:lpstr>
      <vt:lpstr>Dynapuff Condensed</vt:lpstr>
      <vt:lpstr>Dynapuff Condensed Bold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and  Dark Brown Aesthetic Abstract Corner Project Presentation</dc:title>
  <dc:creator>user</dc:creator>
  <cp:lastModifiedBy>user</cp:lastModifiedBy>
  <cp:revision>10</cp:revision>
  <dcterms:created xsi:type="dcterms:W3CDTF">2006-08-16T00:00:00Z</dcterms:created>
  <dcterms:modified xsi:type="dcterms:W3CDTF">2025-09-21T08:26:17Z</dcterms:modified>
  <dc:identifier>DAGzl97r-XA</dc:identifier>
</cp:coreProperties>
</file>